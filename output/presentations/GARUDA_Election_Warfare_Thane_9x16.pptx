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1219169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5760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4AF37"/>
                </a:solidFill>
              </a:defRPr>
            </a:pPr>
            <a:r>
              <a:t>GARUDA DIGITAL WARFARE</a:t>
            </a:r>
          </a:p>
          <a:p>
            <a:pPr>
              <a:spcBef>
                <a:spcPts val="1200"/>
              </a:spcBef>
              <a:defRPr sz="3000" b="1">
                <a:solidFill>
                  <a:srgbClr val="FFFFFF"/>
                </a:solidFill>
              </a:defRPr>
            </a:pPr>
            <a:r>
              <a:t>CHUNAV JEETNE KI</a:t>
            </a:r>
            <a:br/>
            <a:r>
              <a:t>ALGORITHMIC SCIENCE</a:t>
            </a:r>
          </a:p>
          <a:p>
            <a:pPr>
              <a:spcBef>
                <a:spcPts val="1400"/>
              </a:spcBef>
              <a:defRPr sz="1300">
                <a:solidFill>
                  <a:srgbClr val="00E5FF"/>
                </a:solidFill>
              </a:defRPr>
            </a:pPr>
            <a:r>
              <a:t>Booth-Level Device Interception · Geofenced Psy-Ops · 15-Minute Narrative Strike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6583680"/>
            <a:ext cx="5760720" cy="3840480"/>
          </a:xfrm>
          <a:prstGeom prst="roundRect">
            <a:avLst/>
          </a:prstGeom>
          <a:solidFill>
            <a:srgbClr val="151B26"/>
          </a:solidFill>
          <a:ln w="19050">
            <a:solidFill>
              <a:srgbClr val="26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720840"/>
            <a:ext cx="5303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4AF37"/>
                </a:solidFill>
              </a:defRPr>
            </a:pPr>
            <a:r>
              <a:t>CASE STUDY LIVE EVIDENCE: MUMBAI THANE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Thane Hiranandani micro-geofence me active mobile devices ka real-time radar mapping. Har voter tak direct narrative delivery bina kisi middleman ke.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155680"/>
            <a:ext cx="5760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9CA3AF"/>
                </a:solidFill>
              </a:defRPr>
            </a:pPr>
            <a:r>
              <a:t>CONFIDENTIAL EXECUTIVE BRIEF · 9:16 MOBILE FORMAT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</a:defRPr>
            </a:pPr>
            <a:r>
              <a:t>GROUND REALITY VS MODERN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5760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Purana Tarika Fail Kyun Hota Hai?</a:t>
            </a:r>
          </a:p>
          <a:p>
            <a:pPr>
              <a:spcBef>
                <a:spcPts val="600"/>
              </a:spcBef>
              <a:defRPr sz="1300">
                <a:solidFill>
                  <a:srgbClr val="9CA3AF"/>
                </a:solidFill>
              </a:defRPr>
            </a:pPr>
            <a:r>
              <a:t>Chunav me andhadhundh kharcha vs Surgical AI Strike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5760720" cy="2926080"/>
          </a:xfrm>
          <a:prstGeom prst="roundRect">
            <a:avLst/>
          </a:prstGeom>
          <a:solidFill>
            <a:srgbClr val="151B26"/>
          </a:solidFill>
          <a:ln w="19050">
            <a:solidFill>
              <a:srgbClr val="26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423160"/>
            <a:ext cx="5303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4AF37"/>
                </a:solidFill>
              </a:defRPr>
            </a:pPr>
            <a:r>
              <a:t>❌ PURANA TARIKA (TRADITIONAL)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Bheed ikatthi karna jisme voter ka pata nahi hota</a:t>
            </a:r>
            <a:br/>
            <a:r>
              <a:t>• Andhadhundh hoarding/banners jise koi recall nahi karta</a:t>
            </a:r>
            <a:br/>
            <a:r>
              <a:t>• Blind bulk SMS jo spam box me girte hain</a:t>
            </a:r>
            <a:br/>
            <a:r>
              <a:t>• Opposition ke negative narrative ka jawab 2 din baad dena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486400"/>
            <a:ext cx="5760720" cy="3474720"/>
          </a:xfrm>
          <a:prstGeom prst="roundRect">
            <a:avLst/>
          </a:prstGeom>
          <a:solidFill>
            <a:srgbClr val="151B26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62356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4AF37"/>
                </a:solidFill>
              </a:defRPr>
            </a:pPr>
            <a:r>
              <a:t>✔ GARUDA WARFARE (ALGORITHMIC)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Pin-Point Geofencing: Booth ke 100m radius me har device target</a:t>
            </a:r>
            <a:br/>
            <a:r>
              <a:t>• Society-Level Segmentation: Hiranandani jaise high-rises me direct phone reach</a:t>
            </a:r>
            <a:br/>
            <a:r>
              <a:t>• 15-Minute Counter-Strike: Opposition ka jhooth 15 min me neutralize</a:t>
            </a:r>
            <a:br/>
            <a:r>
              <a:t>• Real-Time Footfall Telemetry: Polling day par booth turn-out live monitor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9235440"/>
            <a:ext cx="5760720" cy="2103120"/>
          </a:xfrm>
          <a:prstGeom prst="roundRect">
            <a:avLst/>
          </a:prstGeom>
          <a:solidFill>
            <a:srgbClr val="151B26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9372600"/>
            <a:ext cx="5303520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4AF37"/>
                </a:solidFill>
              </a:defRPr>
            </a:pPr>
            <a:r>
              <a:t>🎯 THE RESULT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Per-Vote Cost 70% Kam · Voter Reach 100% Direct · Narrative Supremacy 24x7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</a:defRPr>
            </a:pPr>
            <a:r>
              <a:t>FIELD PROOF · LIVE TELEMETRY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5760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Mumbai Thane (Hiranandani)</a:t>
            </a:r>
            <a:br/>
            <a:r>
              <a:t>Active Mobile Intelligence</a:t>
            </a:r>
          </a:p>
          <a:p>
            <a:pPr>
              <a:spcBef>
                <a:spcPts val="600"/>
              </a:spcBef>
              <a:defRPr sz="1300">
                <a:solidFill>
                  <a:srgbClr val="9CA3AF"/>
                </a:solidFill>
              </a:defRPr>
            </a:pPr>
            <a:r>
              <a:t>Humne ground par real devices ko kaise intercept kiya: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5760720" cy="2560320"/>
          </a:xfrm>
          <a:prstGeom prst="roundRect">
            <a:avLst/>
          </a:prstGeom>
          <a:solidFill>
            <a:srgbClr val="151B26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42316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4AF37"/>
                </a:solidFill>
              </a:defRPr>
            </a:pPr>
            <a:r>
              <a:t>📡 GEOFENCED MOBILE DENSITY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Hiranandani Estate &amp; Meadows me 45,000+ Active Smartphones identify hue</a:t>
            </a:r>
            <a:br/>
            <a:r>
              <a:t>• Society entry/exit gates par daily footfall pattern track hua</a:t>
            </a:r>
            <a:br/>
            <a:r>
              <a:t>• Resident vs Outside visitor ka clean 100% data quarantine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120640"/>
            <a:ext cx="5760720" cy="2560320"/>
          </a:xfrm>
          <a:prstGeom prst="roundRect">
            <a:avLst/>
          </a:prstGeom>
          <a:solidFill>
            <a:srgbClr val="151B26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25780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4AF37"/>
                </a:solidFill>
              </a:defRPr>
            </a:pPr>
            <a:r>
              <a:t>📱 DEMOGRAPHIC PSYCHOGRAPHICS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Service Class &amp; Corporate Professionals: Tax, Infra &amp; Commute issues</a:t>
            </a:r>
            <a:br/>
            <a:r>
              <a:t>• Senior Citizens: Healthcare, Park, aur Security issues</a:t>
            </a:r>
            <a:br/>
            <a:r>
              <a:t>• First-Time Youth Voters: Career, Startups, aur Digital Governance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7955279"/>
            <a:ext cx="5760720" cy="3474720"/>
          </a:xfrm>
          <a:prstGeom prst="roundRect">
            <a:avLst/>
          </a:prstGeom>
          <a:solidFill>
            <a:srgbClr val="151B2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809244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4AF37"/>
                </a:solidFill>
              </a:defRPr>
            </a:pPr>
            <a:r>
              <a:t>⚡ WHAT WE DELIVERED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Har category ke phone par unke interest ka customized video message</a:t>
            </a:r>
            <a:br/>
            <a:r>
              <a:t>• Koi generic bhashan nahi — seedha unki society ki problem ka roadmap</a:t>
            </a:r>
            <a:br/>
            <a:r>
              <a:t>• WhatsApp Status, Reels aur Local Dark Ads ka 100% digital gherao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</a:defRPr>
            </a:pPr>
            <a:r>
              <a:t>OPERATIONAL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5760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Hamara 'Way Of Working'</a:t>
            </a:r>
            <a:br/>
            <a:r>
              <a:t>Chunav Me Kaise Kaam Hota Hai</a:t>
            </a:r>
          </a:p>
          <a:p>
            <a:pPr>
              <a:spcBef>
                <a:spcPts val="600"/>
              </a:spcBef>
              <a:defRPr sz="1300">
                <a:solidFill>
                  <a:srgbClr val="9CA3AF"/>
                </a:solidFill>
              </a:defRPr>
            </a:pPr>
            <a:r>
              <a:t>4-Layer Sovereign Campaign Command: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94560"/>
            <a:ext cx="5760720" cy="2194560"/>
          </a:xfrm>
          <a:prstGeom prst="roundRect">
            <a:avLst/>
          </a:prstGeom>
          <a:solidFill>
            <a:srgbClr val="151B26"/>
          </a:solidFill>
          <a:ln w="19050">
            <a:solidFill>
              <a:srgbClr val="26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331720"/>
            <a:ext cx="5303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4AF37"/>
                </a:solidFill>
              </a:defRPr>
            </a:pPr>
            <a:r>
              <a:t>LAYER 1: DIGITAL RADAR &amp; GEOFENCE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Booth aur ward ka virtual fence banta hai. Har resident ka device ecosystem map hota hai bina kisi privacy breach ke.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572000"/>
            <a:ext cx="5760720" cy="2194560"/>
          </a:xfrm>
          <a:prstGeom prst="roundRect">
            <a:avLst/>
          </a:prstGeom>
          <a:solidFill>
            <a:srgbClr val="151B26"/>
          </a:solidFill>
          <a:ln w="19050">
            <a:solidFill>
              <a:srgbClr val="26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709160"/>
            <a:ext cx="5303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4AF37"/>
                </a:solidFill>
              </a:defRPr>
            </a:pPr>
            <a:r>
              <a:t>LAYER 2: VERNACULAR CREATIVE FACTORY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Roz 15-20 hyper-targeted Reels &amp; Posters bante hain. Candidate ki aawaz aur style me customized micro-videos produce hote hain.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6949440"/>
            <a:ext cx="5760720" cy="2194560"/>
          </a:xfrm>
          <a:prstGeom prst="roundRect">
            <a:avLst/>
          </a:prstGeom>
          <a:solidFill>
            <a:srgbClr val="151B26"/>
          </a:solidFill>
          <a:ln w="19050">
            <a:solidFill>
              <a:srgbClr val="26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7086600"/>
            <a:ext cx="5303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4AF37"/>
                </a:solidFill>
              </a:defRPr>
            </a:pPr>
            <a:r>
              <a:t>LAYER 3: NARRATIVE INJECTION &amp; WHATSAPP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Resident welfare groups, local influencers aur community leaders tak verified content organically seed kiya jata hai.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9326880"/>
            <a:ext cx="5760720" cy="2194560"/>
          </a:xfrm>
          <a:prstGeom prst="roundRect">
            <a:avLst/>
          </a:prstGeom>
          <a:solidFill>
            <a:srgbClr val="151B26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9464040"/>
            <a:ext cx="5303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4AF37"/>
                </a:solidFill>
              </a:defRPr>
            </a:pPr>
            <a:r>
              <a:t>LAYER 4: ELECTION DAY D-DAY GOTV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D-Day par booth turnout live measure hota hai. Slow booths par voter ko nikalne ke liye targeted notification bursts trigger hote hain.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</a:defRPr>
            </a:pPr>
            <a:r>
              <a:t>DEFENSIVE &amp; OFFENSIVE PSY-OPS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5760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15-Minute Counter Strike</a:t>
            </a:r>
            <a:br/>
            <a:r>
              <a:t>Opposition Narrative Neutralizer</a:t>
            </a:r>
          </a:p>
          <a:p>
            <a:pPr>
              <a:spcBef>
                <a:spcPts val="600"/>
              </a:spcBef>
              <a:defRPr sz="1300">
                <a:solidFill>
                  <a:srgbClr val="9CA3AF"/>
                </a:solidFill>
              </a:defRPr>
            </a:pPr>
            <a:r>
              <a:t>Opposition ka jhooth viral hone se pehle khatam: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5760720" cy="2743200"/>
          </a:xfrm>
          <a:prstGeom prst="roundRect">
            <a:avLst/>
          </a:prstGeom>
          <a:solidFill>
            <a:srgbClr val="151B26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423160"/>
            <a:ext cx="53035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4AF37"/>
                </a:solidFill>
              </a:defRPr>
            </a:pPr>
            <a:r>
              <a:t>⏱ MINUTE 0 - 3: RADAR DETECTION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Local WhatsApp groups, Facebook pages aur Twitter/X par opposition ke negative claim ya fake news ko AI instantly catch karta hai.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303520"/>
            <a:ext cx="5760720" cy="2743200"/>
          </a:xfrm>
          <a:prstGeom prst="roundRect">
            <a:avLst/>
          </a:prstGeom>
          <a:solidFill>
            <a:srgbClr val="151B26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440680"/>
            <a:ext cx="53035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4AF37"/>
                </a:solidFill>
              </a:defRPr>
            </a:pPr>
            <a:r>
              <a:t>⏱ MINUTE 4 - 10: FACT-CHECK GENERATION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Fact-check graphic, candidate ka 30-second rebuttal video script, aur proof document automated format me generate hota hai.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8321040"/>
            <a:ext cx="5760720" cy="3200400"/>
          </a:xfrm>
          <a:prstGeom prst="roundRect">
            <a:avLst/>
          </a:prstGeom>
          <a:solidFill>
            <a:srgbClr val="151B2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8458200"/>
            <a:ext cx="5303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4AF37"/>
                </a:solidFill>
              </a:defRPr>
            </a:pPr>
            <a:r>
              <a:t>⏱ MINUTE 11 - 15: TOTAL RETALIATION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Wahi counter-content unhi voters ke feeds aur WhatsApp circles me flood kar diya jata hai. Opposition ka narrative 15 minute me collapse!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</a:defRPr>
            </a:pPr>
            <a:r>
              <a:t>COMMAND &amp;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5760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Candidate War Room</a:t>
            </a:r>
            <a:br/>
            <a:r>
              <a:t>Real-Time Telemetry Dashboard</a:t>
            </a:r>
          </a:p>
          <a:p>
            <a:pPr>
              <a:spcBef>
                <a:spcPts val="600"/>
              </a:spcBef>
              <a:defRPr sz="1300">
                <a:solidFill>
                  <a:srgbClr val="9CA3AF"/>
                </a:solidFill>
              </a:defRPr>
            </a:pPr>
            <a:r>
              <a:t>Candidate ke haath me poore chunav ka live control: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5760720" cy="2560320"/>
          </a:xfrm>
          <a:prstGeom prst="roundRect">
            <a:avLst/>
          </a:prstGeom>
          <a:solidFill>
            <a:srgbClr val="151B26"/>
          </a:solidFill>
          <a:ln w="19050">
            <a:solidFill>
              <a:srgbClr val="26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42316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4AF37"/>
                </a:solidFill>
              </a:defRPr>
            </a:pPr>
            <a:r>
              <a:t>📊 WARD-WISE SENTIMENT SCORE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Kis ward me hawa kis taraf hai, kaunsa topic voters me narazgi paida kar raha hai, aur kahan support peak par hai — sab live screen par.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120640"/>
            <a:ext cx="5760720" cy="2560320"/>
          </a:xfrm>
          <a:prstGeom prst="roundRect">
            <a:avLst/>
          </a:prstGeom>
          <a:solidFill>
            <a:srgbClr val="151B26"/>
          </a:solidFill>
          <a:ln w="19050">
            <a:solidFill>
              <a:srgbClr val="26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25780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4AF37"/>
                </a:solidFill>
              </a:defRPr>
            </a:pPr>
            <a:r>
              <a:t>🎯 BOOTH-WISE REACH TRACKER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Pata rehta hai ki Booth #42 me kitne percent voters tak hamara message pahucha aur kitne abhi unreached hain.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7955279"/>
            <a:ext cx="5760720" cy="3474720"/>
          </a:xfrm>
          <a:prstGeom prst="roundRect">
            <a:avLst/>
          </a:prstGeom>
          <a:solidFill>
            <a:srgbClr val="151B26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809244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4AF37"/>
                </a:solidFill>
              </a:defRPr>
            </a:pPr>
            <a:r>
              <a:t>🛡 100% DATA PRIVACY &amp; SOVEREIGNTY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Pura data candidate ke private cloud par rehta hai. Zero leak, zero third-party platform dependence. 100% confidential political asset.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</a:defRPr>
            </a:pPr>
            <a:r>
              <a:t>STRATEGIC DOMINANCE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5760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Next Steps: Ground Domination</a:t>
            </a:r>
          </a:p>
          <a:p>
            <a:pPr>
              <a:spcBef>
                <a:spcPts val="600"/>
              </a:spcBef>
              <a:defRPr sz="1300">
                <a:solidFill>
                  <a:srgbClr val="9CA3AF"/>
                </a:solidFill>
              </a:defRPr>
            </a:pPr>
            <a:r>
              <a:t>Aapki constituency me digital war room deploy karne ka roadmap: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94560"/>
            <a:ext cx="5760720" cy="2377440"/>
          </a:xfrm>
          <a:prstGeom prst="roundRect">
            <a:avLst/>
          </a:prstGeom>
          <a:solidFill>
            <a:srgbClr val="151B26"/>
          </a:solidFill>
          <a:ln w="19050">
            <a:solidFill>
              <a:srgbClr val="26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331720"/>
            <a:ext cx="5303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4AF37"/>
                </a:solidFill>
              </a:defRPr>
            </a:pPr>
            <a:r>
              <a:t>PHASE 1: 48-HOUR CONSTITUENCY AUDIT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Ward-level device density audit, competitor digital scan, aur initial voter sentiment mapping.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754880"/>
            <a:ext cx="5760720" cy="2377440"/>
          </a:xfrm>
          <a:prstGeom prst="roundRect">
            <a:avLst/>
          </a:prstGeom>
          <a:solidFill>
            <a:srgbClr val="151B26"/>
          </a:solidFill>
          <a:ln w="19050">
            <a:solidFill>
              <a:srgbClr val="26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892040"/>
            <a:ext cx="5303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4AF37"/>
                </a:solidFill>
              </a:defRPr>
            </a:pPr>
            <a:r>
              <a:t>PHASE 2: GEOFENCE &amp; PIPELINE ACTIVATION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100m booth geofence setup, WhatsApp organic distribution mesh, aur local creative engine launch.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7315200"/>
            <a:ext cx="5760720" cy="2377440"/>
          </a:xfrm>
          <a:prstGeom prst="roundRect">
            <a:avLst/>
          </a:prstGeom>
          <a:solidFill>
            <a:srgbClr val="151B26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7452360"/>
            <a:ext cx="5303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4AF37"/>
                </a:solidFill>
              </a:defRPr>
            </a:pPr>
            <a:r>
              <a:t>PHASE 3: 24x7 WAR ROOM DOMINATION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Continuous narrative suppression, opponent neutralizing strikes, aur polling day turnout command.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9875520"/>
            <a:ext cx="5760720" cy="1645920"/>
          </a:xfrm>
          <a:prstGeom prst="roundRect">
            <a:avLst/>
          </a:prstGeom>
          <a:solidFill>
            <a:srgbClr val="151B26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001268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4AF37"/>
                </a:solidFill>
              </a:defRPr>
            </a:pPr>
            <a:r>
              <a:t>🦅 GARUDA OS · THE WINNING ENGINE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Hum bheed nahi, VOTES deliver karte hain. Algorithmic Precision se Jeet Tay Hai.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